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9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5" r:id="rId9"/>
    <p:sldId id="266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4D6C40-556F-CE9A-467E-353E16B64704}" v="2" dt="2026-06-27T22:03:48.779"/>
    <p1510:client id="{47DD7F3A-0B97-EE53-BE5F-51E6D554EE90}" v="164" dt="2026-06-27T22:14:36.525"/>
    <p1510:client id="{AF754C9C-9683-FFCF-64A5-0E12F124B029}" v="25" dt="2026-06-27T21:44:11.3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6/27/2026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97969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5642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5448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3297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8653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75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523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0625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771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136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24258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7600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2417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91313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1613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1360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5115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6/27/2026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60053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70" r:id="rId11"/>
    <p:sldLayoutId id="2147483771" r:id="rId12"/>
    <p:sldLayoutId id="2147483772" r:id="rId13"/>
    <p:sldLayoutId id="2147483773" r:id="rId14"/>
    <p:sldLayoutId id="2147483774" r:id="rId15"/>
    <p:sldLayoutId id="2147483775" r:id="rId16"/>
    <p:sldLayoutId id="214748377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734852"/>
            <a:ext cx="9144000" cy="45229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Residency</a:t>
            </a:r>
            <a:r>
              <a:rPr lang="en-US" dirty="0">
                <a:ea typeface="+mn-lt"/>
                <a:cs typeface="+mn-lt"/>
              </a:rPr>
              <a:t> Group Project Presentation - </a:t>
            </a:r>
          </a:p>
          <a:p>
            <a:r>
              <a:rPr lang="en-US">
                <a:ea typeface="+mn-lt"/>
                <a:cs typeface="+mn-lt"/>
              </a:rPr>
              <a:t>Collaborative To-Do List </a:t>
            </a:r>
            <a:r>
              <a:rPr lang="en-US" dirty="0">
                <a:ea typeface="+mn-lt"/>
                <a:cs typeface="+mn-lt"/>
              </a:rPr>
              <a:t>Application </a:t>
            </a:r>
            <a:endParaRPr lang="en-US"/>
          </a:p>
          <a:p>
            <a:endParaRPr lang="en-US" dirty="0">
              <a:ea typeface="+mn-lt"/>
              <a:cs typeface="+mn-lt"/>
            </a:endParaRPr>
          </a:p>
          <a:p>
            <a:r>
              <a:rPr lang="en-US" dirty="0" err="1">
                <a:ea typeface="+mn-lt"/>
                <a:cs typeface="+mn-lt"/>
              </a:rPr>
              <a:t>Xhon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Pelushi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r>
              <a:rPr lang="en-US" dirty="0" err="1">
                <a:ea typeface="+mn-lt"/>
                <a:cs typeface="+mn-lt"/>
              </a:rPr>
              <a:t>Sikun</a:t>
            </a:r>
            <a:r>
              <a:rPr lang="en-US" dirty="0">
                <a:ea typeface="+mn-lt"/>
                <a:cs typeface="+mn-lt"/>
              </a:rPr>
              <a:t> Peng</a:t>
            </a:r>
            <a:endParaRPr lang="en-US"/>
          </a:p>
          <a:p>
            <a:r>
              <a:rPr lang="en-US">
                <a:ea typeface="+mn-lt"/>
                <a:cs typeface="+mn-lt"/>
              </a:rPr>
              <a:t>University of the Cumberlands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MSCS-632-M30: Advanced Programming Languages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Dr. Jay Thom</a:t>
            </a:r>
            <a:endParaRPr lang="en-US"/>
          </a:p>
          <a:p>
            <a:r>
              <a:rPr lang="en-US">
                <a:ea typeface="+mn-lt"/>
                <a:cs typeface="+mn-lt"/>
              </a:rPr>
              <a:t>June 2026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24989-5674-2F3B-3916-A5927B1EF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Collaborative To-Do List Application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65E78F-5B2C-67C0-195B-D8787D1CBE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ea typeface="+mn-lt"/>
                <a:cs typeface="+mn-lt"/>
              </a:rPr>
              <a:t>Project objective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>
              <a:buClr>
                <a:srgbClr val="FFFFFF"/>
              </a:buClr>
            </a:pPr>
            <a:r>
              <a:rPr lang="en-US">
                <a:ea typeface="+mn-lt"/>
                <a:cs typeface="+mn-lt"/>
              </a:rPr>
              <a:t> Core features:</a:t>
            </a:r>
          </a:p>
          <a:p>
            <a:pPr lvl="1">
              <a:buClr>
                <a:srgbClr val="FFFFFF"/>
              </a:buClr>
              <a:buFont typeface="Courier New"/>
              <a:buChar char="o"/>
            </a:pPr>
            <a:r>
              <a:rPr lang="en-US">
                <a:ea typeface="+mn-lt"/>
                <a:cs typeface="+mn-lt"/>
              </a:rPr>
              <a:t>Multi-user</a:t>
            </a:r>
          </a:p>
          <a:p>
            <a:pPr lvl="1">
              <a:buClr>
                <a:srgbClr val="FFFFFF"/>
              </a:buClr>
              <a:buFont typeface="Courier New"/>
              <a:buChar char="o"/>
            </a:pPr>
            <a:r>
              <a:rPr lang="en-US">
                <a:ea typeface="+mn-lt"/>
                <a:cs typeface="+mn-lt"/>
              </a:rPr>
              <a:t>Add/Edit/Delete tasks</a:t>
            </a:r>
          </a:p>
          <a:p>
            <a:pPr lvl="1">
              <a:buClr>
                <a:srgbClr val="FFFFFF"/>
              </a:buClr>
              <a:buFont typeface="Courier New"/>
              <a:buChar char="o"/>
            </a:pPr>
            <a:r>
              <a:rPr lang="en-US" dirty="0">
                <a:ea typeface="+mn-lt"/>
                <a:cs typeface="+mn-lt"/>
              </a:rPr>
              <a:t>Assign </a:t>
            </a:r>
            <a:r>
              <a:rPr lang="en-US">
                <a:ea typeface="+mn-lt"/>
                <a:cs typeface="+mn-lt"/>
              </a:rPr>
              <a:t>tasks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lvl="1">
              <a:buClr>
                <a:srgbClr val="FFFFFF"/>
              </a:buClr>
              <a:buFont typeface="Courier New"/>
              <a:buChar char="o"/>
            </a:pPr>
            <a:r>
              <a:rPr lang="en-US" dirty="0">
                <a:ea typeface="+mn-lt"/>
                <a:cs typeface="+mn-lt"/>
              </a:rPr>
              <a:t>Filter </a:t>
            </a:r>
            <a:r>
              <a:rPr lang="en-US">
                <a:ea typeface="+mn-lt"/>
                <a:cs typeface="+mn-lt"/>
              </a:rPr>
              <a:t>tasks</a:t>
            </a:r>
          </a:p>
          <a:p>
            <a:pPr lvl="1">
              <a:buClr>
                <a:srgbClr val="FFFFFF"/>
              </a:buClr>
              <a:buFont typeface="Courier New"/>
              <a:buChar char="o"/>
            </a:pPr>
            <a:r>
              <a:rPr lang="en-US">
                <a:ea typeface="+mn-lt"/>
                <a:cs typeface="+mn-lt"/>
              </a:rPr>
              <a:t>Concurrency</a:t>
            </a:r>
            <a:r>
              <a:rPr lang="en-US" dirty="0">
                <a:ea typeface="+mn-lt"/>
                <a:cs typeface="+mn-lt"/>
              </a:rPr>
              <a:t> support</a:t>
            </a:r>
            <a:endParaRPr lang="en-US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045300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18271-D024-F6A7-707A-EEC0BA998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909" y="808055"/>
            <a:ext cx="3979205" cy="1453363"/>
          </a:xfrm>
        </p:spPr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Java Architecture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344C7AC-714C-D691-AA61-B5DC2E6989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178" y="2261420"/>
            <a:ext cx="4002936" cy="3637935"/>
          </a:xfrm>
        </p:spPr>
        <p:txBody>
          <a:bodyPr>
            <a:normAutofit fontScale="77500" lnSpcReduction="20000"/>
          </a:bodyPr>
          <a:lstStyle/>
          <a:p>
            <a:r>
              <a:rPr lang="en-US">
                <a:ea typeface="+mn-lt"/>
                <a:cs typeface="+mn-lt"/>
              </a:rPr>
              <a:t>Object-Oriented Design – Uses separate classes (Task, User, </a:t>
            </a:r>
            <a:r>
              <a:rPr lang="en-US" err="1">
                <a:ea typeface="+mn-lt"/>
                <a:cs typeface="+mn-lt"/>
              </a:rPr>
              <a:t>TaskManager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UserManager</a:t>
            </a:r>
            <a:r>
              <a:rPr lang="en-US">
                <a:ea typeface="+mn-lt"/>
                <a:cs typeface="+mn-lt"/>
              </a:rPr>
              <a:t>) to encapsulate data and business logic.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>
              <a:buClr>
                <a:srgbClr val="FFFFFF"/>
              </a:buClr>
            </a:pPr>
            <a:r>
              <a:rPr lang="en-US">
                <a:ea typeface="+mn-lt"/>
                <a:cs typeface="+mn-lt"/>
              </a:rPr>
              <a:t>Layered Architecture – Separates the console UI, business logic, and in-memory data storage for better maintainability.</a:t>
            </a:r>
            <a:endParaRPr lang="en-US"/>
          </a:p>
          <a:p>
            <a:pPr>
              <a:buClr>
                <a:srgbClr val="FFFFFF"/>
              </a:buClr>
            </a:pPr>
            <a:r>
              <a:rPr lang="en-US">
                <a:ea typeface="+mn-lt"/>
                <a:cs typeface="+mn-lt"/>
              </a:rPr>
              <a:t>Strong Type Safety – Uses Java classes, </a:t>
            </a:r>
            <a:r>
              <a:rPr lang="en-US" err="1">
                <a:ea typeface="+mn-lt"/>
                <a:cs typeface="+mn-lt"/>
              </a:rPr>
              <a:t>enums</a:t>
            </a:r>
            <a:r>
              <a:rPr lang="en-US">
                <a:ea typeface="+mn-lt"/>
                <a:cs typeface="+mn-lt"/>
              </a:rPr>
              <a:t>, and generics to catch errors at compile time.</a:t>
            </a:r>
            <a:endParaRPr lang="en-US"/>
          </a:p>
          <a:p>
            <a:pPr>
              <a:buClr>
                <a:srgbClr val="FFFFFF"/>
              </a:buClr>
            </a:pPr>
            <a:r>
              <a:rPr lang="en-US">
                <a:ea typeface="+mn-lt"/>
                <a:cs typeface="+mn-lt"/>
              </a:rPr>
              <a:t>Thread-Safe Data Management – Uses </a:t>
            </a:r>
            <a:r>
              <a:rPr lang="en-US" err="1">
                <a:ea typeface="+mn-lt"/>
                <a:cs typeface="+mn-lt"/>
              </a:rPr>
              <a:t>ConcurrentHashMap</a:t>
            </a:r>
            <a:r>
              <a:rPr lang="en-US">
                <a:ea typeface="+mn-lt"/>
                <a:cs typeface="+mn-lt"/>
              </a:rPr>
              <a:t> and synchronized operations to support concurrent access.</a:t>
            </a:r>
            <a:endParaRPr lang="en-US"/>
          </a:p>
          <a:p>
            <a:pPr>
              <a:buClr>
                <a:srgbClr val="FFFFFF"/>
              </a:buClr>
            </a:pPr>
            <a:r>
              <a:rPr lang="en-US">
                <a:ea typeface="+mn-lt"/>
                <a:cs typeface="+mn-lt"/>
              </a:rPr>
              <a:t>Modular Structure – Components are organized into models, services, UI, and utility classes to improve readability and scalability.</a:t>
            </a:r>
            <a:endParaRPr lang="en-US"/>
          </a:p>
        </p:txBody>
      </p:sp>
      <p:pic>
        <p:nvPicPr>
          <p:cNvPr id="4" name="Content Placeholder 3" descr="A diagram of a software application&#10;&#10;AI-generated content may be incorrect.">
            <a:extLst>
              <a:ext uri="{FF2B5EF4-FFF2-40B4-BE49-F238E27FC236}">
                <a16:creationId xmlns:a16="http://schemas.microsoft.com/office/drawing/2014/main" id="{4EFBB40B-9EAB-0D7D-4433-7589F15955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9480" y="1036390"/>
            <a:ext cx="6545865" cy="4345898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86670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C215D-828D-9579-8210-7E66CEC86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909" y="808055"/>
            <a:ext cx="3979205" cy="1453363"/>
          </a:xfrm>
        </p:spPr>
        <p:txBody>
          <a:bodyPr>
            <a:normAutofit/>
          </a:bodyPr>
          <a:lstStyle/>
          <a:p>
            <a:r>
              <a:rPr lang="en-US">
                <a:ea typeface="Calibri Light"/>
                <a:cs typeface="Calibri Light"/>
              </a:rPr>
              <a:t>Data Model Difference</a:t>
            </a:r>
            <a:endParaRPr lang="en-US" err="1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ADBAAE0-97AE-9679-80F7-A2891DEDF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178" y="2261420"/>
            <a:ext cx="4002936" cy="3637935"/>
          </a:xfrm>
        </p:spPr>
        <p:txBody>
          <a:bodyPr>
            <a:normAutofit fontScale="92500" lnSpcReduction="10000"/>
          </a:bodyPr>
          <a:lstStyle/>
          <a:p>
            <a:r>
              <a:rPr lang="en-US">
                <a:ea typeface="+mn-lt"/>
                <a:cs typeface="+mn-lt"/>
              </a:rPr>
              <a:t>In Java, the Task entity is defined as a class with fixed field types. The compiler checks that id is a UUID, title is a String, and status is a </a:t>
            </a:r>
            <a:r>
              <a:rPr lang="en-US" err="1">
                <a:ea typeface="+mn-lt"/>
                <a:cs typeface="+mn-lt"/>
              </a:rPr>
              <a:t>TaskStatus</a:t>
            </a:r>
            <a:r>
              <a:rPr lang="en-US">
                <a:ea typeface="+mn-lt"/>
                <a:cs typeface="+mn-lt"/>
              </a:rPr>
              <a:t>. This provides compile-time safety and makes the structure predictable.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>
              <a:buClr>
                <a:srgbClr val="FFFFFF"/>
              </a:buClr>
            </a:pPr>
            <a:endParaRPr lang="en-US"/>
          </a:p>
          <a:p>
            <a:pPr>
              <a:buClr>
                <a:srgbClr val="FFFFFF"/>
              </a:buClr>
            </a:pPr>
            <a:r>
              <a:rPr lang="en-US">
                <a:ea typeface="+mn-lt"/>
                <a:cs typeface="+mn-lt"/>
              </a:rPr>
              <a:t>In JavaScript, the task is represented as a flexible object. This is easier to create and modify, but the language does not prevent mistakes such as assigning "DONE" instead of "COMPLETED" unless we add manual validation.</a:t>
            </a:r>
            <a:endParaRPr lang="en-US"/>
          </a:p>
        </p:txBody>
      </p:sp>
      <p:pic>
        <p:nvPicPr>
          <p:cNvPr id="4" name="Content Placeholder 3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821913CE-BAE0-0103-AB31-8835369BF4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9752" y="902028"/>
            <a:ext cx="6095593" cy="4891713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492321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EA7BC-AADA-494E-3A8F-27D1DCA6B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909" y="808055"/>
            <a:ext cx="3979205" cy="14533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>
                <a:ea typeface="+mj-lt"/>
                <a:cs typeface="+mj-lt"/>
              </a:rPr>
              <a:t>Status and Category Difference</a:t>
            </a:r>
            <a:endParaRPr lang="en-US" sz="330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581E38D-A5F5-AE32-A488-1771B35B92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178" y="2261420"/>
            <a:ext cx="4002936" cy="3637935"/>
          </a:xfrm>
        </p:spPr>
        <p:txBody>
          <a:bodyPr>
            <a:normAutofit/>
          </a:bodyPr>
          <a:lstStyle/>
          <a:p>
            <a:r>
              <a:rPr lang="en-US">
                <a:ea typeface="+mn-lt"/>
                <a:cs typeface="+mn-lt"/>
              </a:rPr>
              <a:t>Java has built-in enum support. This prevents invalid task statuses at compile time.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>
              <a:buClr>
                <a:srgbClr val="FFFFFF"/>
              </a:buClr>
            </a:pPr>
            <a:endParaRPr lang="en-US"/>
          </a:p>
          <a:p>
            <a:pPr>
              <a:buClr>
                <a:srgbClr val="FFFFFF"/>
              </a:buClr>
            </a:pPr>
            <a:r>
              <a:rPr lang="en-US">
                <a:ea typeface="+mn-lt"/>
                <a:cs typeface="+mn-lt"/>
              </a:rPr>
              <a:t>JavaScript does not have the same traditional enum system, so we use an object with string constants. This is flexible, but it depends more on developer discipline and runtime validation.</a:t>
            </a:r>
            <a:endParaRPr lang="en-US"/>
          </a:p>
          <a:p>
            <a:pPr>
              <a:buClr>
                <a:srgbClr val="FFFFFF"/>
              </a:buClr>
            </a:pPr>
            <a:endParaRPr lang="en-US">
              <a:ea typeface="Calibri"/>
              <a:cs typeface="Calibri"/>
            </a:endParaRPr>
          </a:p>
        </p:txBody>
      </p:sp>
      <p:pic>
        <p:nvPicPr>
          <p:cNvPr id="4" name="Content Placeholder 3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07E66BD8-6733-B129-F2E2-FB5486093F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9752" y="1298241"/>
            <a:ext cx="6095593" cy="409928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00964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93046-6608-D225-F892-16F3230A0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909" y="808055"/>
            <a:ext cx="3979205" cy="1453363"/>
          </a:xfrm>
        </p:spPr>
        <p:txBody>
          <a:bodyPr>
            <a:normAutofit/>
          </a:bodyPr>
          <a:lstStyle/>
          <a:p>
            <a:r>
              <a:rPr lang="en-US" sz="3300">
                <a:ea typeface="+mj-lt"/>
                <a:cs typeface="+mj-lt"/>
              </a:rPr>
              <a:t>Collection and Storage Difference</a:t>
            </a:r>
            <a:endParaRPr lang="en-US" sz="330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324B3D9-208E-7B9D-6A4E-AB7EA7E0BA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178" y="2261420"/>
            <a:ext cx="4002936" cy="3637935"/>
          </a:xfrm>
        </p:spPr>
        <p:txBody>
          <a:bodyPr>
            <a:normAutofit fontScale="85000" lnSpcReduction="10000"/>
          </a:bodyPr>
          <a:lstStyle/>
          <a:p>
            <a:endParaRPr lang="en-US">
              <a:ea typeface="Calibri" panose="020F0502020204030204"/>
              <a:cs typeface="Calibri" panose="020F0502020204030204"/>
            </a:endParaRPr>
          </a:p>
          <a:p>
            <a:pPr>
              <a:buClr>
                <a:srgbClr val="FFFFFF"/>
              </a:buClr>
            </a:pPr>
            <a:r>
              <a:rPr lang="en-US">
                <a:ea typeface="+mn-lt"/>
                <a:cs typeface="+mn-lt"/>
              </a:rPr>
              <a:t>Java uses </a:t>
            </a:r>
            <a:r>
              <a:rPr lang="en-US" err="1">
                <a:ea typeface="+mn-lt"/>
                <a:cs typeface="+mn-lt"/>
              </a:rPr>
              <a:t>ConcurrentHashMap</a:t>
            </a:r>
            <a:r>
              <a:rPr lang="en-US">
                <a:ea typeface="+mn-lt"/>
                <a:cs typeface="+mn-lt"/>
              </a:rPr>
              <a:t>, which is designed for safe access when multiple threads read and write data at the same time. This fits Java’s thread-based concurrency model.</a:t>
            </a:r>
            <a:endParaRPr lang="en-US"/>
          </a:p>
          <a:p>
            <a:pPr>
              <a:buClr>
                <a:srgbClr val="FFFFFF"/>
              </a:buClr>
            </a:pPr>
            <a:endParaRPr lang="en-US"/>
          </a:p>
          <a:p>
            <a:pPr>
              <a:buClr>
                <a:srgbClr val="FFFFFF"/>
              </a:buClr>
            </a:pPr>
            <a:r>
              <a:rPr lang="en-US">
                <a:ea typeface="+mn-lt"/>
                <a:cs typeface="+mn-lt"/>
              </a:rPr>
              <a:t>JavaScript uses an array of task objects. Since Node.js runs JavaScript mainly on a single-threaded event loop, the concurrency risk is different. Instead of multiple threads modifying memory at the exact same time, JavaScript handles asynchronous operations through the event loop.</a:t>
            </a:r>
            <a:endParaRPr lang="en-US"/>
          </a:p>
          <a:p>
            <a:pPr>
              <a:buClr>
                <a:srgbClr val="FFFFFF"/>
              </a:buClr>
            </a:pPr>
            <a:endParaRPr lang="en-US">
              <a:ea typeface="Calibri"/>
              <a:cs typeface="Calibri"/>
            </a:endParaRPr>
          </a:p>
        </p:txBody>
      </p:sp>
      <p:pic>
        <p:nvPicPr>
          <p:cNvPr id="4" name="Content Placeholder 3" descr="A computer screen with text on it&#10;&#10;AI-generated content may be incorrect.">
            <a:extLst>
              <a:ext uri="{FF2B5EF4-FFF2-40B4-BE49-F238E27FC236}">
                <a16:creationId xmlns:a16="http://schemas.microsoft.com/office/drawing/2014/main" id="{E9938543-C611-19CA-B2DC-B88623989E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9752" y="2585935"/>
            <a:ext cx="6095593" cy="1523898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60196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B5D70-D357-9306-E6C8-F7363FAED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909" y="808055"/>
            <a:ext cx="3979205" cy="1453363"/>
          </a:xfrm>
        </p:spPr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Concurrency Difference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CD9E0D9-F3BC-48F6-73CC-5DEF7547BC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178" y="2261420"/>
            <a:ext cx="4002936" cy="3637935"/>
          </a:xfrm>
        </p:spPr>
        <p:txBody>
          <a:bodyPr>
            <a:normAutofit fontScale="92500" lnSpcReduction="20000"/>
          </a:bodyPr>
          <a:lstStyle/>
          <a:p>
            <a:endParaRPr lang="en-US">
              <a:ea typeface="Calibri" panose="020F0502020204030204"/>
              <a:cs typeface="Calibri" panose="020F0502020204030204"/>
            </a:endParaRPr>
          </a:p>
          <a:p>
            <a:pPr>
              <a:buClr>
                <a:srgbClr val="FFFFFF"/>
              </a:buClr>
            </a:pPr>
            <a:r>
              <a:rPr lang="en-US">
                <a:ea typeface="+mn-lt"/>
                <a:cs typeface="+mn-lt"/>
              </a:rPr>
              <a:t>Java supports true multithreading. Two threads can run at the same time, so shared data must be protected with thread-safe collections or synchronization.</a:t>
            </a:r>
            <a:endParaRPr lang="en-US"/>
          </a:p>
          <a:p>
            <a:pPr>
              <a:buClr>
                <a:srgbClr val="FFFFFF"/>
              </a:buClr>
            </a:pPr>
            <a:endParaRPr lang="en-US"/>
          </a:p>
          <a:p>
            <a:pPr>
              <a:buClr>
                <a:srgbClr val="FFFFFF"/>
              </a:buClr>
            </a:pPr>
            <a:r>
              <a:rPr lang="en-US">
                <a:ea typeface="+mn-lt"/>
                <a:cs typeface="+mn-lt"/>
              </a:rPr>
              <a:t>JavaScript uses asynchronous programming with </a:t>
            </a:r>
            <a:r>
              <a:rPr lang="en-US" err="1">
                <a:ea typeface="+mn-lt"/>
                <a:cs typeface="+mn-lt"/>
              </a:rPr>
              <a:t>Promise.all</a:t>
            </a:r>
            <a:r>
              <a:rPr lang="en-US">
                <a:ea typeface="+mn-lt"/>
                <a:cs typeface="+mn-lt"/>
              </a:rPr>
              <a:t>() and async/await. The operations appear concurrent from the application perspective, but they are coordinated through the event loop rather than traditional shared-memory threads.</a:t>
            </a:r>
            <a:endParaRPr lang="en-US"/>
          </a:p>
          <a:p>
            <a:pPr>
              <a:buClr>
                <a:srgbClr val="FFFFFF"/>
              </a:buClr>
            </a:pPr>
            <a:endParaRPr lang="en-US">
              <a:ea typeface="Calibri"/>
              <a:cs typeface="Calibri"/>
            </a:endParaRPr>
          </a:p>
        </p:txBody>
      </p:sp>
      <p:pic>
        <p:nvPicPr>
          <p:cNvPr id="4" name="Content Placeholder 3" descr="A computer screen shot of a computer code&#10;&#10;AI-generated content may be incorrect.">
            <a:extLst>
              <a:ext uri="{FF2B5EF4-FFF2-40B4-BE49-F238E27FC236}">
                <a16:creationId xmlns:a16="http://schemas.microsoft.com/office/drawing/2014/main" id="{20AD569E-D31E-D4BD-40F9-C33EC5755F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9752" y="2281156"/>
            <a:ext cx="6095593" cy="2133457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54554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91B81-40E5-2F1C-9FEE-9A93ECB80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909" y="808055"/>
            <a:ext cx="3979205" cy="1453363"/>
          </a:xfrm>
        </p:spPr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Input Handling Difference</a:t>
            </a:r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485BADF-7928-AC05-EBDB-C9E157ED6C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178" y="2261420"/>
            <a:ext cx="4002936" cy="3637935"/>
          </a:xfrm>
        </p:spPr>
        <p:txBody>
          <a:bodyPr>
            <a:normAutofit/>
          </a:bodyPr>
          <a:lstStyle/>
          <a:p>
            <a:r>
              <a:rPr lang="en-US">
                <a:ea typeface="+mn-lt"/>
                <a:cs typeface="+mn-lt"/>
              </a:rPr>
              <a:t>Java’s console input with Scanner is blocking and synchronous. The program waits until the user enters input before continuing.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>
              <a:buClr>
                <a:srgbClr val="FFFFFF"/>
              </a:buClr>
            </a:pPr>
            <a:endParaRPr lang="en-US">
              <a:ea typeface="+mn-lt"/>
              <a:cs typeface="+mn-lt"/>
            </a:endParaRPr>
          </a:p>
          <a:p>
            <a:pPr>
              <a:buClr>
                <a:srgbClr val="FFFFFF"/>
              </a:buClr>
            </a:pPr>
            <a:r>
              <a:rPr lang="en-US">
                <a:ea typeface="+mn-lt"/>
                <a:cs typeface="+mn-lt"/>
              </a:rPr>
              <a:t>Node.js </a:t>
            </a:r>
            <a:r>
              <a:rPr lang="en-US" err="1">
                <a:ea typeface="+mn-lt"/>
                <a:cs typeface="+mn-lt"/>
              </a:rPr>
              <a:t>readline</a:t>
            </a:r>
            <a:r>
              <a:rPr lang="en-US">
                <a:ea typeface="+mn-lt"/>
                <a:cs typeface="+mn-lt"/>
              </a:rPr>
              <a:t> is asynchronous. To make the menu feel sequential, the JavaScript version uses async/await. This makes asynchronous input easier to read and closer to a normal step-by-step program.</a:t>
            </a:r>
            <a:endParaRPr lang="en-US"/>
          </a:p>
        </p:txBody>
      </p:sp>
      <p:pic>
        <p:nvPicPr>
          <p:cNvPr id="7" name="Content Placeholder 6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B7135FC8-FA86-253E-0A7C-08D131F237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9752" y="2258297"/>
            <a:ext cx="6095593" cy="2179174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974221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3EB3D-7859-3D76-66C0-D9E9913D1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909" y="808055"/>
            <a:ext cx="3979205" cy="1453363"/>
          </a:xfrm>
        </p:spPr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Error Handling Difference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DC27D88-2311-A83D-59B0-80E875EC85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178" y="2261420"/>
            <a:ext cx="4002936" cy="3637935"/>
          </a:xfrm>
        </p:spPr>
        <p:txBody>
          <a:bodyPr>
            <a:normAutofit/>
          </a:bodyPr>
          <a:lstStyle/>
          <a:p>
            <a:r>
              <a:rPr lang="en-US">
                <a:ea typeface="+mn-lt"/>
                <a:cs typeface="+mn-lt"/>
              </a:rPr>
              <a:t>Java can use enums and exceptions to handle invalid values. If the input does not match a valid enum, Java throws an exception.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>
              <a:buClr>
                <a:srgbClr val="FFFFFF"/>
              </a:buClr>
            </a:pPr>
            <a:endParaRPr lang="en-US"/>
          </a:p>
          <a:p>
            <a:pPr>
              <a:buClr>
                <a:srgbClr val="FFFFFF"/>
              </a:buClr>
            </a:pPr>
            <a:r>
              <a:rPr lang="en-US">
                <a:ea typeface="+mn-lt"/>
                <a:cs typeface="+mn-lt"/>
              </a:rPr>
              <a:t>JavaScript usually requires manual validation because strings are flexible. The code checks whether the input exists in the allowed list before using it.</a:t>
            </a:r>
            <a:endParaRPr lang="en-US"/>
          </a:p>
        </p:txBody>
      </p:sp>
      <p:pic>
        <p:nvPicPr>
          <p:cNvPr id="4" name="Content Placeholder 3" descr="A computer code with white text&#10;&#10;AI-generated content may be incorrect.">
            <a:extLst>
              <a:ext uri="{FF2B5EF4-FFF2-40B4-BE49-F238E27FC236}">
                <a16:creationId xmlns:a16="http://schemas.microsoft.com/office/drawing/2014/main" id="{C06C3DDF-2DD7-C743-5F98-975D372452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9752" y="2243059"/>
            <a:ext cx="6095593" cy="2209651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092106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47157-B4DB-A7CF-9E14-688882D6F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Overall Language Experience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6CA3D-564F-2ECC-3830-7EF1B72DEB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rgbClr val="FFFFFF"/>
              </a:buClr>
            </a:pPr>
            <a:r>
              <a:rPr lang="en-US">
                <a:ea typeface="+mn-lt"/>
                <a:cs typeface="+mn-lt"/>
              </a:rPr>
              <a:t>Java required more structure upfront. We had to define classes, </a:t>
            </a:r>
            <a:r>
              <a:rPr lang="en-US" err="1">
                <a:ea typeface="+mn-lt"/>
                <a:cs typeface="+mn-lt"/>
              </a:rPr>
              <a:t>enums</a:t>
            </a:r>
            <a:r>
              <a:rPr lang="en-US">
                <a:ea typeface="+mn-lt"/>
                <a:cs typeface="+mn-lt"/>
              </a:rPr>
              <a:t>, types, and managers before the application could run. However, this structure made the code safer, easier to organize, and better for larger systems.</a:t>
            </a:r>
            <a:endParaRPr lang="en-US">
              <a:ea typeface="Calibri"/>
              <a:cs typeface="Calibri"/>
            </a:endParaRPr>
          </a:p>
          <a:p>
            <a:pPr>
              <a:buClr>
                <a:srgbClr val="FFFFFF"/>
              </a:buClr>
            </a:pPr>
            <a:r>
              <a:rPr lang="en-US">
                <a:ea typeface="+mn-lt"/>
                <a:cs typeface="+mn-lt"/>
              </a:rPr>
              <a:t>JavaScript allowed faster development with less setup. Objects and arrays were easy to create, and async/await made simulated concurrent operations readable. However, because JavaScript is dynamically typed, the implementation needed more manual validation to avoid inconsistent task data.</a:t>
            </a:r>
            <a:endParaRPr lang="en-US"/>
          </a:p>
          <a:p>
            <a:pPr>
              <a:buClr>
                <a:srgbClr val="FFFFFF"/>
              </a:buClr>
            </a:pPr>
            <a:r>
              <a:rPr lang="en-US">
                <a:ea typeface="+mn-lt"/>
                <a:cs typeface="+mn-lt"/>
              </a:rPr>
              <a:t>Both languages implemented the same Collaborative To-Do List features, but the language design influenced the solution. Java emphasized safety, structure, and thread-based concurrency. JavaScript emphasized flexibility, lightweight objects, and asynchronous programming.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79408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6476F"/>
      </a:dk2>
      <a:lt2>
        <a:srgbClr val="EBEBEB"/>
      </a:lt2>
      <a:accent1>
        <a:srgbClr val="E5B458"/>
      </a:accent1>
      <a:accent2>
        <a:srgbClr val="F77754"/>
      </a:accent2>
      <a:accent3>
        <a:srgbClr val="D8507E"/>
      </a:accent3>
      <a:accent4>
        <a:srgbClr val="BC70EE"/>
      </a:accent4>
      <a:accent5>
        <a:srgbClr val="3CA2E2"/>
      </a:accent5>
      <a:accent6>
        <a:srgbClr val="91BF77"/>
      </a:accent6>
      <a:hlink>
        <a:srgbClr val="71DDAB"/>
      </a:hlink>
      <a:folHlink>
        <a:srgbClr val="A6E4C7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B36E0D05-787B-4C61-8268-2D6C1FBEDA3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Celestial</vt:lpstr>
      <vt:lpstr>PowerPoint Presentation</vt:lpstr>
      <vt:lpstr>Collaborative To-Do List Application</vt:lpstr>
      <vt:lpstr>Java Architecture</vt:lpstr>
      <vt:lpstr>Data Model Difference</vt:lpstr>
      <vt:lpstr>Status and Category Difference</vt:lpstr>
      <vt:lpstr>Collection and Storage Difference</vt:lpstr>
      <vt:lpstr>Concurrency Difference</vt:lpstr>
      <vt:lpstr>Input Handling Difference</vt:lpstr>
      <vt:lpstr>Error Handling Difference</vt:lpstr>
      <vt:lpstr>Overall Language Experience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42</cp:revision>
  <dcterms:created xsi:type="dcterms:W3CDTF">2026-06-27T21:36:32Z</dcterms:created>
  <dcterms:modified xsi:type="dcterms:W3CDTF">2026-06-27T22:14:40Z</dcterms:modified>
</cp:coreProperties>
</file>